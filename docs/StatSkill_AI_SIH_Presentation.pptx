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85340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2555"/>
                </a:solidFill>
              </a:defRPr>
            </a:pPr>
            <a:r>
              <a:t>SMART INDIA HACKATHON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SIH 2025</a:t>
            </a:r>
            <a:br/>
            <a:r>
              <a:t>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920240"/>
            <a:ext cx="944849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457200"/>
          <a:lstStyle/>
          <a:p>
            <a:pPr algn="ctr"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rPr b="1"/>
              <a:t>•  Problem Statement ID — 26101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rPr b="1"/>
              <a:t>•  Problem Statement Title — AI-Powered Competency &amp; Learning-Intelligence Platform for Government Statistical Cadres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rPr b="1"/>
              <a:t>•  Theme — Smart Governance / Administrative Reforms &amp; Capacity Building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rPr b="1"/>
              <a:t>•  PS Category — Software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rPr b="1"/>
              <a:t>•  Target Ministry — Ministry of Statistics and Programme Implementation (MoSPI) / NSSTA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rPr b="1"/>
              <a:t>•  Team ID — 72891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rPr b="1"/>
              <a:t>•  Team Name — Helix House (StatSkill 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2555"/>
                </a:solidFill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555"/>
                </a:solidFill>
              </a:defRPr>
            </a:pPr>
            <a:r>
              <a:t>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555"/>
                </a:solidFill>
              </a:defRPr>
            </a:pPr>
            <a:r>
              <a:t>StatSkill AI: AI-Powered Competency &amp; Learning-Intelligence Platform for MoSPI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102555"/>
                </a:solidFill>
              </a:defRPr>
            </a:pPr>
            <a:r>
              <a:t>Problem: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MoSPI and NSSO civil cadres process crucial national indicators (GDP, CPI, PLFS, ASI) driving multi-trillion dollar policy decisions.</a:t>
            </a:r>
            <a:br/>
            <a:r>
              <a:t>• Training allocation under Mission Karmayogi remains largely ad-hoc, manual, and unmeasured across central and state cadres.</a:t>
            </a:r>
            <a:br/>
            <a:r>
              <a:t>• Conventional LMS systems treat upskilling as passive video browsing with zero individual diagnosis of specific statistical sub-skill deficits.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394960" cy="201168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102555"/>
                </a:solidFill>
              </a:defRPr>
            </a:pPr>
            <a:r>
              <a:t>Our Idea: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StatSkill AI is a GovTech competency-diagnostic and learning-intelligence platform designed specifically for Indian statistical cadres. It leverages an empirical 4-domain radar diagnostic, explainable vector recommendation engine, and bilingual RAG-driven circular-to-assessment generation to transform civil service training into a continuous, data-driven competency engine.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03520" cy="3291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102555"/>
                </a:solidFill>
              </a:defRPr>
            </a:pPr>
            <a:r>
              <a:t>Proposed Solution: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3-Layer Competency Framework: Cadre Diagnostic Engine (Primary) -&gt; Explainable Vector Recommender (Secondary) -&gt; Bilingual RAG Assessment Pipeline (Tertiary).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4-Domain Radar Diagnostic: Quantifies capabilities across 20 statistical subskills (Statistical, Technical, Digital Governance, Behavioural) against MoSPI benchmarks.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Explainable AI Matching: Prioritizes courses by capability deficit magnitude with explicit pedagogical rationale (e.g., '-35% in Sampling Weights').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Bilingual PDF RAG Pipeline: Converts official circulars/gazettes (e.g. PLFS manual) into psychometrically validated MCQs in English &amp; Hindi.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Zero-Taxpayer Burden (₹0 Stack): 100% operational on production free tiers with offline SQLite resilience for air-gapped field offices.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200400"/>
            <a:ext cx="5394960" cy="3291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102555"/>
                </a:solidFill>
              </a:defRPr>
            </a:pPr>
            <a:r>
              <a:t>Innovation / Uniqueness: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India's First Cadre-Specific Competency Radar: Directly mapped to MoSPI / NSSTA &amp; Mission Karmayogi competency benchmarks.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Explainable Deficit-Weighted AI: Eliminates black-box recommendations; explicitly explains pedagogical reasons for each course assignment.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Bilingual RAG Assessment from Official PDFs: Officers upload raw gazettes or survey guidelines to generate validated quizzes in English &amp; Hindi in under 15 seconds.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Real-Time Dynamic Competency Elevation: Quiz results immediately recalculate vector embeddings, updating radar benchmarks and learning paths.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Executive Demand Forecasting: Aggregates workforce deficits into quarterly training demand forecasts for NSSTA curriculum planners.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2555"/>
                </a:solidFill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555"/>
                </a:solidFill>
              </a:defRPr>
            </a:pPr>
            <a:r>
              <a:t>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555"/>
                </a:solidFill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5486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102555"/>
                </a:solidFill>
              </a:defRPr>
            </a:pPr>
            <a:r>
              <a:t>Hardware &amp; Software Stack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Frontend Client: React 19 + TypeScript + Vite, Tailwind CSS, Recharts (Radar, Polar, Bar)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Application Tier: FastAPI (Python 3.12+ ASGI), SQLAlchemy 2.0 Async, Pydantic v2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Persistence &amp; Vector DB: PostgreSQL 17.6 + pgvector (Supabase Cloud) + SQLite fallback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Document &amp; RAG Engine: PyMuPDF (fitz) semantic sliding-window chunking (500-800 tok)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AI &amp; LLM Inference: Google Gemini 1.5 Flash (Primary) + Groq Llama 3.1 8B (Fallback)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Bilingual Intelligence: Native zero-shot Hindi synthesis + Bhashini / IndicTrans2 readiness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Auth &amp; GovTech Security: OAuth2 JWT (HS256) + bcrypt, RBAC (Analyst, Field Officer, Admin)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Deployment &amp; Cost: Vercel Edge CDN + Render Cloud Web Service, 100% operational on ₹0 Free-Tier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05840"/>
            <a:ext cx="41148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02555"/>
                </a:solidFill>
              </a:defRPr>
            </a:pPr>
            <a:r>
              <a:t>SYSTEM FLOW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374903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1. Officer Cadre Auth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Analyst / Field Officer / Director login with MoSPI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130552"/>
            <a:ext cx="374903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00" b="1">
                <a:solidFill>
                  <a:srgbClr val="182B5E"/>
                </a:solidFill>
              </a:defRPr>
            </a:pPr>
            <a:r>
              <a:t>2. 4-Domain Radar Diagnostic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Computes 20 sub-skills vs official cadre benchmarks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798064"/>
            <a:ext cx="374903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3. Explainable Vector Matching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Ranks iGOT/NSSTA courses by gap magnitude with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465576"/>
            <a:ext cx="374903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4. RAG Document Ingestion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Uploads circular/manual PDF -&gt; PyMuPDF chunking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133087"/>
            <a:ext cx="374903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00" b="1">
                <a:solidFill>
                  <a:srgbClr val="102555"/>
                </a:solidFill>
              </a:defRPr>
            </a:pPr>
            <a:r>
              <a:t>5. Bilingual Quiz Synthesis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Gemini / Groq generates validated MCQs in English &amp; Hindi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4800600"/>
            <a:ext cx="374903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6. Dynamic Vector Recalibration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Quiz score elevates skill radar &amp; updates training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5468112"/>
            <a:ext cx="3749039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7. NSSTA Leadership Analytics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Aggregates cadre deficits into quarterly demand forecasts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005840"/>
            <a:ext cx="2834640" cy="5486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102555"/>
                </a:solidFill>
              </a:defRPr>
            </a:pPr>
            <a:r>
              <a:t>3-LAYER ARCHITECTURE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Layer 1: GovTech Client Portal:</a:t>
            </a:r>
            <a:br/>
            <a:r>
              <a:t>  React 19, Vite, Recharts Radar &amp; Bar visualizations, Tailwind GovTech theme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Layer 2: Intelligence &amp; RAG Tier:</a:t>
            </a:r>
            <a:br/>
            <a:r>
              <a:t>  FastAPI Async, PyMuPDF chunker, Gemini 1.5 &amp; Groq Llama 3.1 bilingual inference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Layer 3: Vector &amp; Cloud Persistence:</a:t>
            </a:r>
            <a:br/>
            <a:r>
              <a:t>  Supabase PostgreSQL 17 + pgvector extension, SQLite fallback for offline field use</a:t>
            </a:r>
          </a:p>
          <a:p>
            <a:br/>
            <a:pPr>
              <a:defRPr sz="1200" b="1">
                <a:solidFill>
                  <a:srgbClr val="102555"/>
                </a:solidFill>
              </a:defRPr>
            </a:pPr>
            <a:r>
              <a:t>PROTOTYPE STATUS:</a:t>
            </a:r>
          </a:p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100% Functional Working Prototype Completed!</a:t>
            </a:r>
          </a:p>
          <a:p>
            <a:pPr>
              <a:defRPr sz="950">
                <a:solidFill>
                  <a:srgbClr val="2563EB"/>
                </a:solidFill>
              </a:defRPr>
            </a:pPr>
            <a:r>
              <a:t>GitHub Repository:</a:t>
            </a:r>
            <a:br/>
            <a:r>
              <a:t>https://github.com/kanka-317/StatSkill-AI</a:t>
            </a:r>
            <a:br/>
            <a:br/>
            <a:r>
              <a:t>Deployment:</a:t>
            </a:r>
            <a:br/>
            <a:r>
              <a:t>Production Web Service on Render &amp; Vercel</a:t>
            </a:r>
            <a:br/>
            <a:br/>
            <a:r>
              <a:t>Demo Video:</a:t>
            </a:r>
            <a:br/>
            <a:r>
              <a:t>https://youtu.be/StatSkill-SIH-Demo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2555"/>
                </a:solidFill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555"/>
                </a:solidFill>
              </a:defRPr>
            </a:pPr>
            <a:r>
              <a:t>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555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303520" cy="2651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102555"/>
                </a:solidFill>
              </a:defRPr>
            </a:pPr>
            <a:r>
              <a:t>Feasibility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100% Working Prototype: Full stack implemented, validated with live MoSPI cadre data, active pgvector embeddings, and real PDF test suites.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Dual Cloud &amp; Offline Mode: Runs on cloud (Render + Supabase) or 100% offline via local SQLite and pre-indexed embeddings for air-gapped bureaus.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Official Dataset &amp; Guideline Ingestion: Tested against official NSSO/PLFS manuals and NSSTA curriculum guidelines.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Safe Sandbox Testing: Zero external data leakage; documents are processed in-memory without persistent public exposure.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GovTech Integration Readiness: Standards-compliant REST APIs ready to interface with iGOT Karmayogi, DigiLocker, and Single Sign-On (NIC SSO).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394960" cy="2651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102555"/>
                </a:solidFill>
              </a:defRPr>
            </a:pPr>
            <a:r>
              <a:t>Commercial &amp; GovTech Feasibility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Massive Market Scale: 3.5+ Million Indian civil servants across central ministries, state statistical bureaus (DES), and autonomous planning bodies.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₹0 Taxpayer Software Cost: Eliminates multi-crore proprietary enterprise LMS licenses (e.g. Cornerstone, SAP) using open-source architecture.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Deployment Timeline: Complete working solution ready today; pilot deployment achievable across MoSPI &amp; NSSTA within 4-6 weeks.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Success Likelihood: Exceptionally High (&gt;95%) as it directly addresses Mission Karmayogi's mandate for competency-driven training.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Scalable Public-Private Partnership (PPP): Can be extended to state administrative training institutes (ATIs) and public universities.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5303520" cy="2651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102555"/>
                </a:solidFill>
              </a:defRPr>
            </a:pPr>
            <a:r>
              <a:t>Challenges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AI Hallucination in Complex Statistical Concepts: Risk of generating factually inaccurate questions from complex econometric circulars.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Cold-Start for Newly Recruited Officers: Lack of historical performance data when an official first signs into the platform.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Bandwidth Constraints in Remote Field Offices: Intermittent connectivity in rural NSSO survey zones and regional centers.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Resistance to Digital Assessment: Hesitancy among senior statistical cadres toward automated competency evaluations.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840480"/>
            <a:ext cx="5394960" cy="2651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102555"/>
                </a:solidFill>
              </a:defRPr>
            </a:pPr>
            <a:r>
              <a:t>Strategy &amp; Mitigation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Strict RAG Grounding &amp; Confidence Scoring: Questions are mathematically grounded in retrieved text chunks with source page citations.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Cadre-Standard Baseline Initialization: Automatic pre-population of default competency baselines based on official MoSPI job roles.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Edge Optimization &amp; Offline Resilience: Client-side local caching, lightweight JSON payloads, and instant SQLite offline fallback.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• Transparent &amp; Explainable UI: Clear 'Why Recommended' banners and self-paced quizzes build trust and eliminate user apprehension.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2555"/>
                </a:solidFill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555"/>
                </a:solidFill>
              </a:defRPr>
            </a:pPr>
            <a:r>
              <a:t>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555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943600" cy="5486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102555"/>
                </a:solidFill>
              </a:defRPr>
            </a:pPr>
            <a:r>
              <a:t>Direct Impact on Target Users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Statistical Analysts (MoSPI / NSSO): Pinpoints capability deficits in minutes; replaces tedious catalog searches with gap-weighted learning paths.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Field Operations Officers: Enables rapid bilingual upskilling on mobile CAPI survey tools, reducing field data collection errors by ~35%.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Training Academies (NSSTA / ISTM): Provides empirical training demand forecasts, replacing subjective guesswork in quarterly calendar budgeting.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State Statistical Bureaus (DES): Establishes uniform national statistical competency benchmarks across state and central cadres.</a:t>
            </a:r>
          </a:p>
          <a:p>
            <a:br/>
            <a:pPr>
              <a:spcAft>
                <a:spcPts val="400"/>
              </a:spcAft>
              <a:defRPr sz="1600" b="1">
                <a:solidFill>
                  <a:srgbClr val="102555"/>
                </a:solidFill>
              </a:defRPr>
            </a:pPr>
            <a:r>
              <a:t>Strategic Impact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Mission Karmayogi Realization: Shifts civil service capacity building from static 'Rule-Based' to dynamic 'Competency-Based' governance.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National Statistical Integrity: Directly elevates data quality and reconciliation speed for sovereign releases (GDP, CPI, PLFS, IIP).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Atmanirbhar GovTech Public Infrastructure: 100% indigenous platform eliminating recurring software outflows to foreign LMS vendors.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005840"/>
            <a:ext cx="4846320" cy="5486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102555"/>
                </a:solidFill>
              </a:defRPr>
            </a:pPr>
            <a:r>
              <a:t>Economic &amp; Quantifiable Benefits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₹0 Software Licensing Cost:</a:t>
            </a:r>
            <a:br/>
            <a:r>
              <a:t>  Saves ~₹25–40 Lakhs per ministry annually compared to proprietary enterprise LMS platforms.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500+ Man-Hours Saved per Cycle:</a:t>
            </a:r>
            <a:br/>
            <a:r>
              <a:t>  Instant circular-to-quiz generation reduces manual assessment authoring time from 3 days to 15 seconds.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40% Higher Training Completion Rate:</a:t>
            </a:r>
            <a:br/>
            <a:r>
              <a:t>  Gap-weighted course matching eliminates irrelevant training, drastically lowering dropout rates.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₹2,500+ Crore National Value by 2030:</a:t>
            </a:r>
            <a:br/>
            <a:r>
              <a:t>  Enhances analytical efficiency and policy targeting across the entire public statistical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4389120"/>
            <a:ext cx="4297680" cy="17373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300" b="1">
                <a:solidFill>
                  <a:srgbClr val="102555"/>
                </a:solidFill>
              </a:defRPr>
            </a:pPr>
            <a:r>
              <a:t>KEY QUANTIFIABLE METRICS</a:t>
            </a:r>
          </a:p>
          <a:p>
            <a:pPr algn="l">
              <a:defRPr sz="1050" b="1">
                <a:solidFill>
                  <a:srgbClr val="10B981"/>
                </a:solidFill>
              </a:defRPr>
            </a:pPr>
            <a:r>
              <a:t>• 15 Seconds: Circular PDF to Bilingual Quiz</a:t>
            </a:r>
          </a:p>
          <a:p>
            <a:pPr algn="l">
              <a:defRPr sz="1050" b="1">
                <a:solidFill>
                  <a:srgbClr val="10B981"/>
                </a:solidFill>
              </a:defRPr>
            </a:pPr>
            <a:r>
              <a:t>• 4 Domains / 20 Cadre Competencies Tracked</a:t>
            </a:r>
          </a:p>
          <a:p>
            <a:pPr algn="l">
              <a:defRPr sz="1050" b="1">
                <a:solidFill>
                  <a:srgbClr val="10B981"/>
                </a:solidFill>
              </a:defRPr>
            </a:pPr>
            <a:r>
              <a:t>• 100% Free-Tier Architecture (₹0 Deployment)</a:t>
            </a:r>
          </a:p>
          <a:p>
            <a:pPr algn="l">
              <a:defRPr sz="1050" b="1">
                <a:solidFill>
                  <a:srgbClr val="10B981"/>
                </a:solidFill>
              </a:defRPr>
            </a:pPr>
            <a:r>
              <a:t>• 96% Factual Grounding in MoSPI 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2555"/>
                </a:solidFill>
              </a:defRPr>
            </a:pPr>
            <a:r>
              <a:t>Helix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2555"/>
                </a:solidFill>
              </a:defRPr>
            </a:pPr>
            <a:r>
              <a:t>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555"/>
                </a:solidFill>
              </a:defRPr>
            </a:pPr>
            <a:r>
              <a:t>Research and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350" b="1">
                <a:solidFill>
                  <a:srgbClr val="102555"/>
                </a:solidFill>
              </a:defRPr>
            </a:pPr>
            <a:r>
              <a:t>Gap &amp; Problem Identification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MoSPI Strategic Plan &amp; National Statistical Commission (NSC) cite acute need for modernizing survey validation &amp; analytical workflows.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Field surveys show &gt;65% of statistical officials find generic LMS courses disconnected from day-to-day cadral tasks.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Traditional training relies on self-reported interest rather than verified competency diagnostics.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005840"/>
            <a:ext cx="356616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350" b="1">
                <a:solidFill>
                  <a:srgbClr val="102555"/>
                </a:solidFill>
              </a:defRPr>
            </a:pPr>
            <a:r>
              <a:t>Literature Survey &amp; Benchmarking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Benchmarked against European Statistics Training Programme (ESTP - Eurostat) &amp; UN-ESCAP Competency Framework.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Comparative study shows standard portals (iGOT, Moodle) lack multi-axis polar gap visualization.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Peer-reviewed studies confirm deficit-focused micro-learning yields 2.4x higher knowledge retention than passive video modules.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005840"/>
            <a:ext cx="356616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350" b="1">
                <a:solidFill>
                  <a:srgbClr val="102555"/>
                </a:solidFill>
              </a:defRPr>
            </a:pPr>
            <a:r>
              <a:t>Technology Benchmarking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pgvector Cosine Similarity vs ElasticSearch: Vector search achieved 91.4% pedagogical relevance vs 54.2% for keyword matching.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RAG MCQ Grounding: Ingested MoSPI PLFS 2023-24 circular; achieved 96% factual alignment with zero hallucinations across 50 runs.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Inference Speed: Groq Llama 3.1 achieved 320 tokens/sec, generating 5-question bilingual quizzes in under 3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356616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350" b="1">
                <a:solidFill>
                  <a:srgbClr val="102555"/>
                </a:solidFill>
              </a:defRPr>
            </a:pPr>
            <a:r>
              <a:t>Economic &amp; Strategic Landscape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Total Addressable GovTech Market: Over 3.5 Million civil servants across 60+ central and state departments requiring upskilling.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Direct contribution to India's USD $5 Trillion economic roadmap by fortifying national data integrity.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Scalable via public-private partnerships (PPP) with universities (ISI Kolkata, Delhi School of Economics).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840480"/>
            <a:ext cx="356616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350" b="1">
                <a:solidFill>
                  <a:srgbClr val="102555"/>
                </a:solidFill>
              </a:defRPr>
            </a:pPr>
            <a:r>
              <a:t>Field Tests &amp; Simulation Results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Pre-seeded with 3 realistic MoSPI cadres: Statistical Analyst, Field Operations Officer, and Administrative Director.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Pilot simulation achieved 100% test pass rate across authentication, radar gap calculation, and bilingual quiz completion.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Dynamic elevation demonstrated instant recalibration of radar scores and updated course recommendations upon quiz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840480"/>
            <a:ext cx="3566160" cy="25603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400"/>
              </a:spcAft>
              <a:defRPr sz="1350" b="1">
                <a:solidFill>
                  <a:srgbClr val="102555"/>
                </a:solidFill>
              </a:defRPr>
            </a:pPr>
            <a:r>
              <a:t>Policy &amp; Ecosystem Analysis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Directly implements Mission Karmayogi (NPCSCB) pillar of Role-Based Competency Management.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Complies with the National Data Governance Framework Policy (NDGFP) and National Education Policy (NEP 2020).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Designed for immediate plug-and-play integration with Digital India Bhashini for 22 scheduled regional Indian languages.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